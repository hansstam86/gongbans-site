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0" r:id="rId2"/>
    <p:sldId id="262" r:id="rId3"/>
    <p:sldId id="259" r:id="rId4"/>
    <p:sldId id="265" r:id="rId5"/>
    <p:sldId id="271" r:id="rId6"/>
    <p:sldId id="269" r:id="rId7"/>
    <p:sldId id="261" r:id="rId8"/>
  </p:sldIdLst>
  <p:sldSz cx="9144000" cy="6858000" type="screen4x3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87">
          <p15:clr>
            <a:srgbClr val="A4A3A4"/>
          </p15:clr>
        </p15:guide>
        <p15:guide id="2" pos="9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00FF00"/>
    <a:srgbClr val="89A4A7"/>
    <a:srgbClr val="00C417"/>
    <a:srgbClr val="89A7A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6029" autoAdjust="0"/>
    <p:restoredTop sz="94991" autoAdjust="0"/>
  </p:normalViewPr>
  <p:slideViewPr>
    <p:cSldViewPr snapToObjects="1">
      <p:cViewPr varScale="1">
        <p:scale>
          <a:sx n="67" d="100"/>
          <a:sy n="67" d="100"/>
        </p:scale>
        <p:origin x="-1974" y="-96"/>
      </p:cViewPr>
      <p:guideLst>
        <p:guide orient="horz" pos="2387"/>
        <p:guide pos="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74" d="100"/>
          <a:sy n="74" d="100"/>
        </p:scale>
        <p:origin x="-2256" y="-90"/>
      </p:cViewPr>
      <p:guideLst>
        <p:guide orient="horz" pos="3126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261593-0C66-4841-B515-D5DCA0E9374D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6BDFD-1A9E-41B8-9742-D47D0ECF34C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DC7F-472A-48DA-A706-614ECFD5DDC8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A9FE6-1CC0-4F25-9796-36E21B7DB4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0315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2EDD1-C56D-4D85-B9E1-5EB5B9051141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51734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0"/>
          <p:cNvSpPr txBox="1">
            <a:spLocks noChangeArrowheads="1"/>
          </p:cNvSpPr>
          <p:nvPr/>
        </p:nvSpPr>
        <p:spPr bwMode="auto">
          <a:xfrm>
            <a:off x="5544108" y="4762500"/>
            <a:ext cx="338455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 smtClean="0">
                <a:latin typeface="+mn-ea"/>
                <a:cs typeface="Arial Unicode MS" pitchFamily="34" charset="-122"/>
              </a:rPr>
              <a:t>By Nicole Su</a:t>
            </a:r>
          </a:p>
          <a:p>
            <a:pPr algn="ctr">
              <a:spcBef>
                <a:spcPct val="50000"/>
              </a:spcBef>
            </a:pPr>
            <a:r>
              <a:rPr lang="en-US" altLang="zh-CN" sz="2400" dirty="0" smtClean="0">
                <a:latin typeface="+mn-ea"/>
                <a:cs typeface="Arial Unicode MS" pitchFamily="34" charset="-122"/>
              </a:rPr>
              <a:t>2015.11.18</a:t>
            </a:r>
            <a:endParaRPr lang="en-US" altLang="zh-CN" sz="2400" dirty="0">
              <a:latin typeface="+mn-ea"/>
              <a:cs typeface="Arial Unicode MS" pitchFamily="34" charset="-122"/>
            </a:endParaRP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ctrTitle" idx="4294967295"/>
          </p:nvPr>
        </p:nvSpPr>
        <p:spPr>
          <a:xfrm>
            <a:off x="614363" y="857232"/>
            <a:ext cx="7989887" cy="3500462"/>
          </a:xfrm>
          <a:noFill/>
        </p:spPr>
        <p:txBody>
          <a:bodyPr>
            <a:normAutofit fontScale="90000"/>
          </a:bodyPr>
          <a:lstStyle/>
          <a:p>
            <a:r>
              <a:rPr lang="zh-CN" altLang="en-US" sz="4900" dirty="0" smtClean="0">
                <a:latin typeface="+mn-ea"/>
                <a:ea typeface="+mn-ea"/>
                <a:cs typeface="Verdana" pitchFamily="34" charset="0"/>
              </a:rPr>
              <a:t>             </a:t>
            </a:r>
            <a:r>
              <a:rPr lang="en-US" altLang="zh-CN" sz="4900" dirty="0" smtClean="0">
                <a:latin typeface="+mn-ea"/>
                <a:ea typeface="+mn-ea"/>
                <a:cs typeface="Verdana" pitchFamily="34" charset="0"/>
              </a:rPr>
              <a:t/>
            </a:r>
            <a:br>
              <a:rPr lang="en-US" altLang="zh-CN" sz="4900" dirty="0" smtClean="0">
                <a:latin typeface="+mn-ea"/>
                <a:ea typeface="+mn-ea"/>
                <a:cs typeface="Verdana" pitchFamily="34" charset="0"/>
              </a:rPr>
            </a:br>
            <a:r>
              <a:rPr lang="en-US" altLang="zh-CN" sz="4900" dirty="0" smtClean="0">
                <a:latin typeface="+mn-ea"/>
                <a:ea typeface="+mn-ea"/>
                <a:cs typeface="Verdana" pitchFamily="34" charset="0"/>
              </a:rPr>
              <a:t>             </a:t>
            </a:r>
            <a:br>
              <a:rPr lang="en-US" altLang="zh-CN" sz="4900" dirty="0" smtClean="0">
                <a:latin typeface="+mn-ea"/>
                <a:ea typeface="+mn-ea"/>
                <a:cs typeface="Verdana" pitchFamily="34" charset="0"/>
              </a:rPr>
            </a:br>
            <a:r>
              <a:rPr lang="en-US" altLang="zh-CN" sz="4900" dirty="0" smtClean="0">
                <a:latin typeface="+mn-ea"/>
                <a:ea typeface="+mn-ea"/>
                <a:cs typeface="Verdana" pitchFamily="34" charset="0"/>
              </a:rPr>
              <a:t/>
            </a:r>
            <a:br>
              <a:rPr lang="en-US" altLang="zh-CN" sz="4900" dirty="0" smtClean="0">
                <a:latin typeface="+mn-ea"/>
                <a:ea typeface="+mn-ea"/>
                <a:cs typeface="Verdana" pitchFamily="34" charset="0"/>
              </a:rPr>
            </a:br>
            <a:r>
              <a:rPr lang="zh-CN" altLang="en-US" sz="4000" dirty="0" smtClean="0">
                <a:solidFill>
                  <a:schemeClr val="bg1">
                    <a:lumMod val="95000"/>
                  </a:schemeClr>
                </a:solidFill>
                <a:latin typeface="+mn-ea"/>
                <a:cs typeface="Verdana" pitchFamily="34" charset="0"/>
              </a:rPr>
              <a:t>方案设计 </a:t>
            </a:r>
            <a:r>
              <a:rPr lang="en-US" altLang="zh-CN" sz="4000" dirty="0" smtClean="0">
                <a:solidFill>
                  <a:schemeClr val="bg1">
                    <a:lumMod val="95000"/>
                  </a:schemeClr>
                </a:solidFill>
                <a:latin typeface="+mn-ea"/>
                <a:cs typeface="Verdana" pitchFamily="34" charset="0"/>
              </a:rPr>
              <a:t>PPT 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Verdana" pitchFamily="34" charset="0"/>
              </a:rPr>
              <a:t/>
            </a:r>
            <a:b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Verdana" pitchFamily="34" charset="0"/>
              </a:rPr>
            </a:br>
            <a:r>
              <a:rPr lang="en-US" altLang="zh-CN" sz="49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Verdana" pitchFamily="34" charset="0"/>
              </a:rPr>
              <a:t> </a:t>
            </a:r>
            <a:r>
              <a:rPr lang="en-US" altLang="zh-CN" sz="31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Verdana" pitchFamily="34" charset="0"/>
              </a:rPr>
              <a:t>P15-090 Oscar-Plan_V1.0</a:t>
            </a:r>
            <a:br>
              <a:rPr lang="en-US" altLang="zh-CN" sz="31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Verdana" pitchFamily="34" charset="0"/>
              </a:rPr>
            </a:br>
            <a:r>
              <a:rPr lang="en-US" altLang="zh-CN" sz="31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Verdana" pitchFamily="34" charset="0"/>
              </a:rPr>
              <a:t>  </a:t>
            </a:r>
            <a:r>
              <a:rPr lang="zh-CN" altLang="en-US" sz="31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Verdana" pitchFamily="34" charset="0"/>
              </a:rPr>
              <a:t>（</a:t>
            </a:r>
            <a:r>
              <a:rPr lang="en-US" altLang="zh-CN" sz="31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Verdana" pitchFamily="34" charset="0"/>
              </a:rPr>
              <a:t>NXP BLE </a:t>
            </a:r>
            <a:r>
              <a:rPr lang="zh-CN" altLang="en-US" sz="3100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  <a:cs typeface="Verdana" pitchFamily="34" charset="0"/>
              </a:rPr>
              <a:t>模块）</a:t>
            </a:r>
            <a:endParaRPr lang="en-US" altLang="zh-CN" sz="3100" dirty="0" smtClean="0">
              <a:solidFill>
                <a:schemeClr val="bg1">
                  <a:lumMod val="95000"/>
                </a:schemeClr>
              </a:solidFill>
              <a:latin typeface="+mn-ea"/>
              <a:ea typeface="+mn-ea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3600" dirty="0" smtClean="0">
                <a:latin typeface="+mn-ea"/>
                <a:ea typeface="+mn-ea"/>
              </a:rPr>
              <a:t>Agenda</a:t>
            </a:r>
            <a:endParaRPr lang="zh-CN" altLang="en-US" sz="3600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35087" y="1600201"/>
            <a:ext cx="5761239" cy="32528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400" dirty="0" smtClean="0">
                <a:latin typeface="+mn-ea"/>
                <a:cs typeface="Arial Unicode MS" pitchFamily="34" charset="-122"/>
              </a:rPr>
              <a:t>1. Version History</a:t>
            </a:r>
          </a:p>
          <a:p>
            <a:pPr>
              <a:buNone/>
            </a:pPr>
            <a:r>
              <a:rPr lang="en-US" altLang="zh-CN" sz="2400" dirty="0" smtClean="0">
                <a:latin typeface="+mn-ea"/>
                <a:cs typeface="Arial Unicode MS" pitchFamily="34" charset="-122"/>
              </a:rPr>
              <a:t>2. Block Diagram</a:t>
            </a:r>
          </a:p>
          <a:p>
            <a:pPr>
              <a:buNone/>
            </a:pPr>
            <a:r>
              <a:rPr lang="en-US" altLang="zh-CN" sz="2400" dirty="0" smtClean="0">
                <a:latin typeface="+mn-ea"/>
                <a:cs typeface="Arial Unicode MS" pitchFamily="34" charset="-122"/>
              </a:rPr>
              <a:t>3. Function Description</a:t>
            </a:r>
            <a:r>
              <a:rPr lang="zh-TW" altLang="en-US" sz="2400" dirty="0" smtClean="0">
                <a:latin typeface="+mn-ea"/>
                <a:cs typeface="Arial Unicode MS" pitchFamily="34" charset="-122"/>
              </a:rPr>
              <a:t> </a:t>
            </a:r>
            <a:endParaRPr lang="en-US" altLang="zh-TW" sz="2400" dirty="0" smtClean="0">
              <a:latin typeface="+mn-ea"/>
              <a:cs typeface="Arial Unicode MS" pitchFamily="34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+mn-ea"/>
                <a:cs typeface="Arial Unicode MS" pitchFamily="34" charset="-122"/>
              </a:rPr>
              <a:t>4. Schedule</a:t>
            </a:r>
            <a:r>
              <a:rPr lang="zh-TW" altLang="en-US" sz="2400" dirty="0" smtClean="0">
                <a:latin typeface="+mn-ea"/>
                <a:cs typeface="Arial Unicode MS" pitchFamily="34" charset="-122"/>
              </a:rPr>
              <a:t> </a:t>
            </a:r>
            <a:r>
              <a:rPr lang="en-US" altLang="zh-TW" sz="2400" b="1" dirty="0" smtClean="0">
                <a:solidFill>
                  <a:srgbClr val="FFFF00"/>
                </a:solidFill>
                <a:latin typeface="+mn-ea"/>
              </a:rPr>
              <a:t>	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76672"/>
            <a:ext cx="9143999" cy="972108"/>
          </a:xfrm>
        </p:spPr>
        <p:txBody>
          <a:bodyPr>
            <a:normAutofit/>
          </a:bodyPr>
          <a:lstStyle/>
          <a:p>
            <a:r>
              <a:rPr lang="en-US" altLang="zh-CN" sz="3200" dirty="0" smtClean="0">
                <a:latin typeface="+mn-ea"/>
                <a:ea typeface="+mn-ea"/>
                <a:cs typeface="Arial Unicode MS" pitchFamily="34" charset="-122"/>
              </a:rPr>
              <a:t>1. Version History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848" y="1500187"/>
            <a:ext cx="7974065" cy="1892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AutoNum type="arabicParenBoth"/>
              <a:defRPr/>
            </a:pPr>
            <a:r>
              <a:rPr lang="en-US" altLang="zh-CN" dirty="0" smtClean="0">
                <a:latin typeface="+mn-ea"/>
                <a:cs typeface="Arial Unicode MS" pitchFamily="34" charset="-122"/>
              </a:rPr>
              <a:t> 2015.11.18 - V1.0 Initial, By Nicole Su</a:t>
            </a:r>
          </a:p>
          <a:p>
            <a:pPr marL="342900" indent="-342900">
              <a:spcBef>
                <a:spcPct val="20000"/>
              </a:spcBef>
              <a:buAutoNum type="arabicParenBoth"/>
              <a:defRPr/>
            </a:pP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Arial Unicode MS" pitchFamily="34" charset="-122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2"/>
          <p:cNvSpPr txBox="1">
            <a:spLocks noChangeArrowheads="1"/>
          </p:cNvSpPr>
          <p:nvPr/>
        </p:nvSpPr>
        <p:spPr>
          <a:xfrm>
            <a:off x="35496" y="642918"/>
            <a:ext cx="9144000" cy="8572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 Unicode MS" pitchFamily="34" charset="-122"/>
              </a:rPr>
              <a:t>2. Block Diagram</a:t>
            </a:r>
          </a:p>
        </p:txBody>
      </p:sp>
      <p:sp>
        <p:nvSpPr>
          <p:cNvPr id="33" name="Rectangle 15"/>
          <p:cNvSpPr>
            <a:spLocks noChangeArrowheads="1"/>
          </p:cNvSpPr>
          <p:nvPr/>
        </p:nvSpPr>
        <p:spPr bwMode="auto">
          <a:xfrm>
            <a:off x="3826460" y="1500175"/>
            <a:ext cx="2531490" cy="4099628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/>
          <a:p>
            <a:pPr algn="ctr">
              <a:buSzPct val="100000"/>
              <a:defRPr/>
            </a:pPr>
            <a:r>
              <a:rPr lang="en-US" altLang="zh-CN" dirty="0" smtClean="0">
                <a:latin typeface="+mn-ea"/>
                <a:cs typeface="Arial" charset="0"/>
              </a:rPr>
              <a:t>BLE</a:t>
            </a:r>
          </a:p>
          <a:p>
            <a:pPr algn="ctr">
              <a:buSzPct val="100000"/>
              <a:defRPr/>
            </a:pPr>
            <a:r>
              <a:rPr lang="en-US" altLang="zh-CN" dirty="0" smtClean="0">
                <a:latin typeface="+mn-ea"/>
                <a:cs typeface="Arial" charset="0"/>
              </a:rPr>
              <a:t>NXP:QN9022</a:t>
            </a:r>
          </a:p>
          <a:p>
            <a:pPr algn="ctr">
              <a:buSzPct val="100000"/>
              <a:defRPr/>
            </a:pPr>
            <a:endParaRPr lang="en-US" altLang="zh-CN" sz="2000" b="1" dirty="0" smtClean="0">
              <a:latin typeface="+mn-ea"/>
              <a:ea typeface="PMingLiU" pitchFamily="18" charset="-120"/>
              <a:cs typeface="Arial" charset="0"/>
            </a:endParaRPr>
          </a:p>
          <a:p>
            <a:pPr algn="ctr">
              <a:buSzPct val="100000"/>
              <a:defRPr/>
            </a:pPr>
            <a:endParaRPr lang="en-US" altLang="zh-CN" sz="1400" b="1" dirty="0" smtClean="0">
              <a:latin typeface="Calibri" pitchFamily="34" charset="0"/>
              <a:ea typeface="PMingLiU" pitchFamily="18" charset="-120"/>
            </a:endParaRPr>
          </a:p>
          <a:p>
            <a:pPr algn="ctr">
              <a:buSzPct val="100000"/>
              <a:defRPr/>
            </a:pPr>
            <a:endParaRPr lang="zh-CN" altLang="en-US" sz="1400" b="1" dirty="0">
              <a:latin typeface="Calibri" pitchFamily="34" charset="0"/>
              <a:ea typeface="PMingLiU" pitchFamily="18" charset="-120"/>
            </a:endParaRPr>
          </a:p>
        </p:txBody>
      </p:sp>
      <p:pic>
        <p:nvPicPr>
          <p:cNvPr id="34" name="图片 44" descr="nx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2283" y="3714752"/>
            <a:ext cx="1728192" cy="81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204746" y="1500174"/>
            <a:ext cx="1789112" cy="142876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/>
          <a:p>
            <a:pPr algn="ctr">
              <a:buSzPct val="100000"/>
              <a:defRPr/>
            </a:pPr>
            <a:r>
              <a:rPr lang="zh-CN" altLang="en-US" dirty="0" smtClean="0">
                <a:latin typeface="+mn-ea"/>
              </a:rPr>
              <a:t>线性稳压器</a:t>
            </a:r>
            <a:endParaRPr lang="en-US" altLang="zh-CN" dirty="0" smtClean="0">
              <a:latin typeface="+mn-ea"/>
            </a:endParaRPr>
          </a:p>
          <a:p>
            <a:pPr algn="ctr">
              <a:buSzPct val="100000"/>
              <a:defRPr/>
            </a:pPr>
            <a:r>
              <a:rPr lang="en-US" altLang="zh-CN" dirty="0" smtClean="0">
                <a:latin typeface="+mn-ea"/>
                <a:cs typeface="Arial" charset="0"/>
              </a:rPr>
              <a:t>LDO</a:t>
            </a:r>
            <a:endParaRPr lang="en-US" altLang="zh-CN" dirty="0">
              <a:latin typeface="+mn-ea"/>
              <a:cs typeface="Arial" charset="0"/>
            </a:endParaRPr>
          </a:p>
          <a:p>
            <a:pPr algn="ctr">
              <a:buSzPct val="100000"/>
              <a:defRPr/>
            </a:pPr>
            <a:r>
              <a:rPr lang="en-US" altLang="zh-CN" dirty="0" smtClean="0">
                <a:latin typeface="+mn-ea"/>
              </a:rPr>
              <a:t>TI:TPS73633</a:t>
            </a:r>
          </a:p>
          <a:p>
            <a:pPr algn="ctr">
              <a:buSzPct val="100000"/>
              <a:defRPr/>
            </a:pPr>
            <a:endParaRPr lang="en-US" altLang="zh-CN" b="1" dirty="0">
              <a:latin typeface="+mn-ea"/>
            </a:endParaRPr>
          </a:p>
          <a:p>
            <a:pPr algn="ctr">
              <a:buSzPct val="100000"/>
              <a:defRPr/>
            </a:pPr>
            <a:endParaRPr lang="zh-CN" altLang="en-US" sz="1400" b="1" dirty="0">
              <a:latin typeface="Calibri" pitchFamily="34" charset="0"/>
              <a:ea typeface="PMingLiU" pitchFamily="18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2428868"/>
            <a:ext cx="1314608" cy="405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矩形 15"/>
          <p:cNvSpPr/>
          <p:nvPr/>
        </p:nvSpPr>
        <p:spPr>
          <a:xfrm>
            <a:off x="214282" y="3189499"/>
            <a:ext cx="1798647" cy="85243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100000"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纽扣电池</a:t>
            </a:r>
            <a:endParaRPr lang="en-US" altLang="zh-CN" dirty="0" smtClean="0">
              <a:solidFill>
                <a:schemeClr val="tx1"/>
              </a:solidFill>
              <a:latin typeface="+mn-ea"/>
              <a:cs typeface="Arial" charset="0"/>
              <a:sym typeface="Arial" charset="0"/>
            </a:endParaRPr>
          </a:p>
          <a:p>
            <a:pPr algn="ctr">
              <a:buSzPct val="100000"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CR2032</a:t>
            </a:r>
            <a:endParaRPr lang="en-US" altLang="zh-CN" dirty="0">
              <a:solidFill>
                <a:schemeClr val="tx1"/>
              </a:solidFill>
              <a:latin typeface="+mn-ea"/>
              <a:cs typeface="Arial" charset="0"/>
              <a:sym typeface="Arial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04746" y="4244002"/>
            <a:ext cx="1798647" cy="54232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100000"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SWD 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接口</a:t>
            </a:r>
            <a:endParaRPr lang="en-US" altLang="zh-CN" dirty="0" smtClean="0">
              <a:solidFill>
                <a:schemeClr val="tx1"/>
              </a:solidFill>
              <a:latin typeface="+mn-ea"/>
              <a:cs typeface="Arial" charset="0"/>
              <a:sym typeface="Arial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5211" y="5057482"/>
            <a:ext cx="1798647" cy="54232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100000"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UART 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接口</a:t>
            </a:r>
            <a:endParaRPr lang="en-US" altLang="zh-CN" dirty="0" smtClean="0">
              <a:solidFill>
                <a:schemeClr val="tx1"/>
              </a:solidFill>
              <a:latin typeface="+mn-ea"/>
              <a:cs typeface="Arial" charset="0"/>
              <a:sym typeface="Arial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14612" y="2380585"/>
            <a:ext cx="45720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103178" y="2059536"/>
            <a:ext cx="1876434" cy="53496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100000"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蜂鸣器</a:t>
            </a:r>
            <a:endParaRPr lang="en-US" altLang="zh-CN" dirty="0" smtClean="0">
              <a:solidFill>
                <a:schemeClr val="tx1"/>
              </a:solidFill>
              <a:latin typeface="+mn-ea"/>
              <a:cs typeface="Arial" charset="0"/>
              <a:sym typeface="Arial" charset="0"/>
            </a:endParaRPr>
          </a:p>
          <a:p>
            <a:pPr algn="ctr">
              <a:buSzPct val="100000"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BUZZER</a:t>
            </a:r>
            <a:endParaRPr lang="en-US" altLang="zh-CN" dirty="0">
              <a:solidFill>
                <a:schemeClr val="tx1"/>
              </a:solidFill>
              <a:latin typeface="+mn-ea"/>
              <a:cs typeface="Arial" charset="0"/>
              <a:sym typeface="Arial" charset="0"/>
            </a:endParaRPr>
          </a:p>
        </p:txBody>
      </p:sp>
      <p:sp>
        <p:nvSpPr>
          <p:cNvPr id="24" name="流程图: 联系 23"/>
          <p:cNvSpPr/>
          <p:nvPr/>
        </p:nvSpPr>
        <p:spPr>
          <a:xfrm>
            <a:off x="2714612" y="238058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①</a:t>
            </a:r>
            <a:endParaRPr lang="zh-CN" altLang="en-US" dirty="0"/>
          </a:p>
        </p:txBody>
      </p:sp>
      <p:sp>
        <p:nvSpPr>
          <p:cNvPr id="26" name="流程图: 联系 25"/>
          <p:cNvSpPr/>
          <p:nvPr/>
        </p:nvSpPr>
        <p:spPr>
          <a:xfrm>
            <a:off x="2714612" y="283778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联系 26"/>
          <p:cNvSpPr/>
          <p:nvPr/>
        </p:nvSpPr>
        <p:spPr>
          <a:xfrm>
            <a:off x="2714612" y="329498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757478" y="235743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1</a:t>
            </a:r>
            <a:endParaRPr lang="zh-CN" altLang="en-US" sz="2800" dirty="0"/>
          </a:p>
        </p:txBody>
      </p:sp>
      <p:sp>
        <p:nvSpPr>
          <p:cNvPr id="39" name="TextBox 38"/>
          <p:cNvSpPr txBox="1"/>
          <p:nvPr/>
        </p:nvSpPr>
        <p:spPr>
          <a:xfrm>
            <a:off x="2757478" y="2809212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2</a:t>
            </a:r>
            <a:endParaRPr lang="zh-CN" altLang="en-US" sz="2800" dirty="0"/>
          </a:p>
        </p:txBody>
      </p:sp>
      <p:sp>
        <p:nvSpPr>
          <p:cNvPr id="40" name="TextBox 39"/>
          <p:cNvSpPr txBox="1"/>
          <p:nvPr/>
        </p:nvSpPr>
        <p:spPr>
          <a:xfrm>
            <a:off x="2757478" y="3286124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3</a:t>
            </a:r>
            <a:endParaRPr lang="zh-CN" altLang="en-US" sz="2800" dirty="0"/>
          </a:p>
        </p:txBody>
      </p:sp>
      <p:sp>
        <p:nvSpPr>
          <p:cNvPr id="41" name="矩形 40"/>
          <p:cNvSpPr/>
          <p:nvPr/>
        </p:nvSpPr>
        <p:spPr>
          <a:xfrm>
            <a:off x="7103178" y="2880649"/>
            <a:ext cx="1876434" cy="53496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100000"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指示灯</a:t>
            </a:r>
            <a:endParaRPr lang="en-US" altLang="zh-CN" dirty="0" smtClean="0">
              <a:solidFill>
                <a:schemeClr val="tx1"/>
              </a:solidFill>
              <a:latin typeface="+mn-ea"/>
              <a:cs typeface="Arial" charset="0"/>
              <a:sym typeface="Arial" charset="0"/>
            </a:endParaRPr>
          </a:p>
          <a:p>
            <a:pPr algn="ctr">
              <a:buSzPct val="100000"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LED</a:t>
            </a:r>
          </a:p>
        </p:txBody>
      </p:sp>
      <p:sp>
        <p:nvSpPr>
          <p:cNvPr id="42" name="矩形 41"/>
          <p:cNvSpPr/>
          <p:nvPr/>
        </p:nvSpPr>
        <p:spPr>
          <a:xfrm>
            <a:off x="7103179" y="3752184"/>
            <a:ext cx="1876434" cy="53496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100000"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按键</a:t>
            </a:r>
            <a:endParaRPr lang="en-US" altLang="zh-CN" dirty="0" smtClean="0">
              <a:solidFill>
                <a:schemeClr val="tx1"/>
              </a:solidFill>
              <a:latin typeface="+mn-ea"/>
              <a:cs typeface="Arial" charset="0"/>
              <a:sym typeface="Arial" charset="0"/>
            </a:endParaRPr>
          </a:p>
          <a:p>
            <a:pPr algn="ctr">
              <a:buSzPct val="100000"/>
              <a:defRPr/>
            </a:pPr>
            <a:r>
              <a:rPr lang="en-US" altLang="zh-CN" dirty="0" smtClean="0">
                <a:solidFill>
                  <a:schemeClr val="tx1"/>
                </a:solidFill>
                <a:latin typeface="+mn-ea"/>
                <a:cs typeface="Arial" charset="0"/>
                <a:sym typeface="Arial" charset="0"/>
              </a:rPr>
              <a:t>BUTTON</a:t>
            </a:r>
          </a:p>
        </p:txBody>
      </p:sp>
      <p:sp>
        <p:nvSpPr>
          <p:cNvPr id="44" name="Rectangle 15"/>
          <p:cNvSpPr>
            <a:spLocks noChangeArrowheads="1"/>
          </p:cNvSpPr>
          <p:nvPr/>
        </p:nvSpPr>
        <p:spPr bwMode="auto">
          <a:xfrm>
            <a:off x="7103178" y="4643446"/>
            <a:ext cx="1839237" cy="95635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/>
          <a:p>
            <a:pPr algn="ctr">
              <a:spcBef>
                <a:spcPct val="20000"/>
              </a:spcBef>
              <a:defRPr/>
            </a:pPr>
            <a:r>
              <a:rPr lang="zh-CN" altLang="en-US" dirty="0" smtClean="0">
                <a:latin typeface="+mn-ea"/>
              </a:rPr>
              <a:t>存储芯片</a:t>
            </a:r>
            <a:endParaRPr lang="en-US" altLang="zh-CN" dirty="0" smtClean="0">
              <a:latin typeface="+mn-ea"/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altLang="zh-CN" dirty="0" smtClean="0">
                <a:latin typeface="+mn-ea"/>
              </a:rPr>
              <a:t>SPI Flash</a:t>
            </a:r>
            <a:endParaRPr lang="en-US" altLang="zh-CN" dirty="0">
              <a:latin typeface="+mn-ea"/>
              <a:cs typeface="Arial" charset="0"/>
            </a:endParaRPr>
          </a:p>
          <a:p>
            <a:pPr algn="ctr">
              <a:buSzPct val="100000"/>
              <a:defRPr/>
            </a:pPr>
            <a:r>
              <a:rPr lang="en-US" altLang="zh-CN" dirty="0" smtClean="0">
                <a:latin typeface="+mn-ea"/>
              </a:rPr>
              <a:t>Winbond:W25X20CL</a:t>
            </a:r>
            <a:endParaRPr lang="en-US" altLang="zh-CN" dirty="0">
              <a:latin typeface="+mn-ea"/>
            </a:endParaRPr>
          </a:p>
        </p:txBody>
      </p:sp>
      <p:cxnSp>
        <p:nvCxnSpPr>
          <p:cNvPr id="46" name="肘形连接符 45"/>
          <p:cNvCxnSpPr/>
          <p:nvPr/>
        </p:nvCxnSpPr>
        <p:spPr>
          <a:xfrm>
            <a:off x="1993858" y="2357430"/>
            <a:ext cx="720754" cy="26748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endCxn id="27" idx="2"/>
          </p:cNvCxnSpPr>
          <p:nvPr/>
        </p:nvCxnSpPr>
        <p:spPr>
          <a:xfrm flipV="1">
            <a:off x="2003393" y="3523584"/>
            <a:ext cx="711219" cy="22860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3171812" y="3072410"/>
            <a:ext cx="65464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2012929" y="4500570"/>
            <a:ext cx="1813531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993858" y="5356238"/>
            <a:ext cx="1823067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rot="10800000">
            <a:off x="6357950" y="4041933"/>
            <a:ext cx="745227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000232" y="20002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j-ea"/>
                <a:ea typeface="+mj-ea"/>
              </a:rPr>
              <a:t>3.3V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012929" y="320254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j-ea"/>
                <a:ea typeface="+mj-ea"/>
              </a:rPr>
              <a:t>3.3V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170594" y="27146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j-ea"/>
                <a:ea typeface="+mj-ea"/>
              </a:rPr>
              <a:t>3.3V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012929" y="4143380"/>
            <a:ext cx="1803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+mj-ea"/>
                <a:ea typeface="+mj-ea"/>
              </a:rPr>
              <a:t>SWDIO</a:t>
            </a:r>
            <a:r>
              <a:rPr lang="zh-CN" altLang="en-US" dirty="0" smtClean="0">
                <a:latin typeface="+mj-ea"/>
                <a:ea typeface="+mj-ea"/>
              </a:rPr>
              <a:t>、</a:t>
            </a:r>
            <a:r>
              <a:rPr lang="en-US" altLang="zh-CN" dirty="0" smtClean="0">
                <a:latin typeface="+mj-ea"/>
                <a:ea typeface="+mj-ea"/>
              </a:rPr>
              <a:t>SWCLK</a:t>
            </a:r>
            <a:r>
              <a:rPr lang="zh-CN" altLang="en-US" dirty="0" smtClean="0">
                <a:latin typeface="+mj-ea"/>
                <a:ea typeface="+mj-ea"/>
              </a:rPr>
              <a:t>、</a:t>
            </a:r>
            <a:r>
              <a:rPr lang="en-US" altLang="zh-CN" dirty="0" smtClean="0">
                <a:latin typeface="+mj-ea"/>
                <a:ea typeface="+mj-ea"/>
              </a:rPr>
              <a:t>RESET	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718001" y="5008396"/>
            <a:ext cx="99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+mj-ea"/>
                <a:ea typeface="+mj-ea"/>
              </a:rPr>
              <a:t>UART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449682" y="198809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j-ea"/>
                <a:ea typeface="+mj-ea"/>
              </a:rPr>
              <a:t>PWM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456847" y="28332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j-ea"/>
                <a:ea typeface="+mj-ea"/>
              </a:rPr>
              <a:t>GPIO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25999" y="370261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j-ea"/>
                <a:ea typeface="+mj-ea"/>
              </a:rPr>
              <a:t>GPIO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449682" y="477576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+mj-ea"/>
                <a:ea typeface="+mj-ea"/>
              </a:rPr>
              <a:t>SPI</a:t>
            </a:r>
            <a:endParaRPr lang="zh-CN" altLang="en-US" dirty="0">
              <a:latin typeface="+mj-ea"/>
              <a:ea typeface="+mj-ea"/>
            </a:endParaRPr>
          </a:p>
        </p:txBody>
      </p:sp>
      <p:cxnSp>
        <p:nvCxnSpPr>
          <p:cNvPr id="84" name="直接箭头连接符 83"/>
          <p:cNvCxnSpPr/>
          <p:nvPr/>
        </p:nvCxnSpPr>
        <p:spPr>
          <a:xfrm>
            <a:off x="6357951" y="5145100"/>
            <a:ext cx="74522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646563" y="37147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j-ea"/>
                <a:ea typeface="+mj-ea"/>
              </a:rPr>
              <a:t>跳线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87" name="等腰三角形 86"/>
          <p:cNvSpPr/>
          <p:nvPr/>
        </p:nvSpPr>
        <p:spPr>
          <a:xfrm rot="10800000">
            <a:off x="7286644" y="1071547"/>
            <a:ext cx="642942" cy="428628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形状 92"/>
          <p:cNvCxnSpPr>
            <a:stCxn id="87" idx="0"/>
          </p:cNvCxnSpPr>
          <p:nvPr/>
        </p:nvCxnSpPr>
        <p:spPr>
          <a:xfrm rot="5400000">
            <a:off x="6840157" y="1017969"/>
            <a:ext cx="285752" cy="125016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997635" y="113084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j-ea"/>
                <a:ea typeface="+mj-ea"/>
              </a:rPr>
              <a:t>天线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02310" y="5599803"/>
            <a:ext cx="13906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7" name="直接箭头连接符 96"/>
          <p:cNvCxnSpPr/>
          <p:nvPr/>
        </p:nvCxnSpPr>
        <p:spPr>
          <a:xfrm>
            <a:off x="6357950" y="2355842"/>
            <a:ext cx="74522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6357950" y="3184735"/>
            <a:ext cx="74522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78"/>
          <p:cNvGrpSpPr/>
          <p:nvPr/>
        </p:nvGrpSpPr>
        <p:grpSpPr>
          <a:xfrm>
            <a:off x="195211" y="5723442"/>
            <a:ext cx="1224136" cy="648072"/>
            <a:chOff x="2609456" y="5330400"/>
            <a:chExt cx="882424" cy="377419"/>
          </a:xfrm>
        </p:grpSpPr>
        <p:sp>
          <p:nvSpPr>
            <p:cNvPr id="49" name="矩形 48"/>
            <p:cNvSpPr/>
            <p:nvPr/>
          </p:nvSpPr>
          <p:spPr>
            <a:xfrm>
              <a:off x="2609456" y="5495387"/>
              <a:ext cx="882424" cy="2124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1" dirty="0" smtClean="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世平暂不提供</a:t>
              </a:r>
              <a:endParaRPr lang="en-US" altLang="zh-CN" sz="10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endParaRPr>
            </a:p>
            <a:p>
              <a:pPr algn="ctr"/>
              <a:r>
                <a:rPr lang="en-US" altLang="zh-CN" sz="1000" b="1" dirty="0" smtClean="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WPI Can’t Offer</a:t>
              </a:r>
              <a:endParaRPr lang="zh-CN" altLang="en-US" sz="10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2609456" y="5330400"/>
              <a:ext cx="882424" cy="182031"/>
            </a:xfrm>
            <a:prstGeom prst="rect">
              <a:avLst/>
            </a:prstGeom>
            <a:solidFill>
              <a:srgbClr val="00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1" dirty="0" smtClean="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世平提供</a:t>
              </a:r>
              <a:endParaRPr lang="en-US" altLang="zh-CN" sz="10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endParaRPr>
            </a:p>
            <a:p>
              <a:pPr algn="ctr"/>
              <a:r>
                <a:rPr lang="en-US" altLang="zh-CN" sz="1000" b="1" dirty="0" smtClean="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WPI Offer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3"/>
          <p:cNvSpPr txBox="1">
            <a:spLocks noChangeArrowheads="1"/>
          </p:cNvSpPr>
          <p:nvPr/>
        </p:nvSpPr>
        <p:spPr bwMode="auto">
          <a:xfrm>
            <a:off x="785786" y="1231006"/>
            <a:ext cx="7920038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defRPr/>
            </a:pP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(1)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基于 </a:t>
            </a: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NXP QN9022 BLE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模块</a:t>
            </a:r>
            <a:endParaRPr lang="en-US" altLang="zh-CN" dirty="0" smtClean="0">
              <a:latin typeface="+mn-ea"/>
              <a:cs typeface="Verdana" panose="020B0604030504040204" pitchFamily="34" charset="0"/>
              <a:sym typeface="Arial" pitchFamily="34" charset="0"/>
            </a:endParaRPr>
          </a:p>
          <a:p>
            <a:pPr marL="342900" lvl="0" indent="-342900">
              <a:lnSpc>
                <a:spcPct val="150000"/>
              </a:lnSpc>
              <a:defRPr/>
            </a:pP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(2)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支持可设为主模式和从模式，在主模式最多可同时有</a:t>
            </a: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 8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个连接</a:t>
            </a:r>
            <a:endParaRPr lang="en-US" altLang="zh-CN" dirty="0" smtClean="0">
              <a:latin typeface="+mn-ea"/>
              <a:cs typeface="Verdana" panose="020B0604030504040204" pitchFamily="34" charset="0"/>
              <a:sym typeface="Arial" pitchFamily="34" charset="0"/>
            </a:endParaRPr>
          </a:p>
          <a:p>
            <a:pPr marL="342900" lvl="0" indent="-342900">
              <a:lnSpc>
                <a:spcPct val="150000"/>
              </a:lnSpc>
              <a:defRPr/>
            </a:pP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(3) -95 </a:t>
            </a:r>
            <a:r>
              <a:rPr lang="en-US" altLang="zh-CN" dirty="0" err="1" smtClean="0">
                <a:latin typeface="+mn-ea"/>
                <a:cs typeface="Verdana" panose="020B0604030504040204" pitchFamily="34" charset="0"/>
                <a:sym typeface="Arial" pitchFamily="34" charset="0"/>
              </a:rPr>
              <a:t>dBm</a:t>
            </a: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 RX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灵敏度（非 </a:t>
            </a: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DC-DC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模式）</a:t>
            </a:r>
            <a:endParaRPr lang="en-US" altLang="zh-CN" dirty="0" smtClean="0">
              <a:latin typeface="+mn-ea"/>
              <a:cs typeface="Verdana" panose="020B0604030504040204" pitchFamily="34" charset="0"/>
              <a:sym typeface="Arial" pitchFamily="34" charset="0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(4) -93 </a:t>
            </a:r>
            <a:r>
              <a:rPr lang="en-US" altLang="zh-CN" dirty="0" err="1" smtClean="0">
                <a:latin typeface="+mn-ea"/>
                <a:cs typeface="Verdana" panose="020B0604030504040204" pitchFamily="34" charset="0"/>
                <a:sym typeface="Arial" pitchFamily="34" charset="0"/>
              </a:rPr>
              <a:t>dBm</a:t>
            </a: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 RX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灵敏度（</a:t>
            </a: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DC-DC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模式）</a:t>
            </a:r>
            <a:endParaRPr lang="en-US" altLang="zh-CN" dirty="0" smtClean="0">
              <a:latin typeface="+mn-ea"/>
              <a:cs typeface="Verdana" panose="020B0604030504040204" pitchFamily="34" charset="0"/>
              <a:sym typeface="Arial" pitchFamily="34" charset="0"/>
            </a:endParaRPr>
          </a:p>
          <a:p>
            <a:pPr marL="342900" lvl="0" indent="-342900">
              <a:lnSpc>
                <a:spcPct val="150000"/>
              </a:lnSpc>
              <a:defRPr/>
            </a:pP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(5) TX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输出功耗：</a:t>
            </a: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-20dBm </a:t>
            </a:r>
            <a:r>
              <a:rPr lang="zh-CN" altLang="en-US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到 </a:t>
            </a:r>
            <a:r>
              <a:rPr lang="en-US" altLang="zh-CN" dirty="0" smtClean="0">
                <a:latin typeface="+mn-ea"/>
                <a:cs typeface="Verdana" panose="020B0604030504040204" pitchFamily="34" charset="0"/>
                <a:sym typeface="Arial" pitchFamily="34" charset="0"/>
              </a:rPr>
              <a:t>4dBm</a:t>
            </a:r>
            <a:endParaRPr lang="zh-CN" altLang="en-US" dirty="0" smtClean="0">
              <a:latin typeface="+mn-ea"/>
              <a:cs typeface="Verdana" panose="020B0604030504040204" pitchFamily="34" charset="0"/>
              <a:sym typeface="Arial" pitchFamily="34" charset="0"/>
            </a:endParaRPr>
          </a:p>
          <a:p>
            <a:pPr marL="342900" indent="-342900">
              <a:lnSpc>
                <a:spcPct val="150000"/>
              </a:lnSpc>
              <a:defRPr/>
            </a:pPr>
            <a:endParaRPr lang="en-US" altLang="zh-CN" dirty="0" smtClean="0">
              <a:latin typeface="宋体" pitchFamily="2" charset="-122"/>
              <a:ea typeface="宋体" pitchFamily="2" charset="-122"/>
              <a:cs typeface="Verdana" panose="020B0604030504040204" pitchFamily="34" charset="0"/>
              <a:sym typeface="Arial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28596" y="469205"/>
            <a:ext cx="8277228" cy="76355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Arial Unicode MS" pitchFamily="34" charset="-122"/>
              </a:rPr>
              <a:t>3. Function Description</a:t>
            </a:r>
            <a:r>
              <a:rPr kumimoji="0" lang="en-US" altLang="zh-TW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cs typeface="+mj-cs"/>
              </a:rPr>
              <a:t>	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504056"/>
            <a:ext cx="9143999" cy="7647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Arial Unicode MS" pitchFamily="34" charset="-122"/>
              </a:rPr>
              <a:t>4. Schedule</a:t>
            </a: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395536" y="1464166"/>
            <a:ext cx="8358213" cy="2252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 smtClean="0">
                <a:latin typeface="+mn-ea"/>
                <a:cs typeface="Arial" charset="0"/>
              </a:rPr>
              <a:t>(1) 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  <a:cs typeface="Arial" charset="0"/>
              </a:rPr>
              <a:t>2015.11.09 - 2015.11.12 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Arial" charset="0"/>
              </a:rPr>
              <a:t>完成原理图</a:t>
            </a:r>
            <a:endParaRPr lang="zh-CN" altLang="en-US" dirty="0" smtClean="0">
              <a:latin typeface="+mn-ea"/>
              <a:cs typeface="Arial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+mn-ea"/>
                <a:cs typeface="Arial" charset="0"/>
              </a:rPr>
              <a:t>(2)</a:t>
            </a:r>
            <a:r>
              <a:rPr lang="zh-CN" altLang="en-US" dirty="0" smtClean="0">
                <a:latin typeface="+mn-ea"/>
                <a:cs typeface="Arial" charset="0"/>
              </a:rPr>
              <a:t> </a:t>
            </a:r>
            <a:r>
              <a:rPr lang="en-US" altLang="zh-CN" dirty="0" smtClean="0">
                <a:latin typeface="宋体" pitchFamily="2" charset="-122"/>
                <a:cs typeface="Arial" charset="0"/>
              </a:rPr>
              <a:t>2015.11.13 - 2015.11.17 </a:t>
            </a:r>
            <a:r>
              <a:rPr lang="zh-CN" altLang="en-US" dirty="0" smtClean="0">
                <a:latin typeface="宋体" pitchFamily="2" charset="-122"/>
                <a:cs typeface="Arial" charset="0"/>
              </a:rPr>
              <a:t>完成 </a:t>
            </a:r>
            <a:r>
              <a:rPr lang="en-US" altLang="zh-CN" dirty="0" smtClean="0">
                <a:latin typeface="宋体" pitchFamily="2" charset="-122"/>
                <a:cs typeface="Arial" charset="0"/>
              </a:rPr>
              <a:t>PCB Layout</a:t>
            </a: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+mn-ea"/>
                <a:cs typeface="Arial" charset="0"/>
              </a:rPr>
              <a:t>(3)</a:t>
            </a:r>
            <a:r>
              <a:rPr lang="zh-CN" altLang="en-US" dirty="0" smtClean="0">
                <a:latin typeface="+mn-ea"/>
                <a:cs typeface="Arial" charset="0"/>
              </a:rPr>
              <a:t> </a:t>
            </a:r>
            <a:r>
              <a:rPr lang="en-US" altLang="zh-CN" dirty="0" smtClean="0">
                <a:latin typeface="宋体" pitchFamily="2" charset="-122"/>
                <a:cs typeface="Arial" charset="0"/>
              </a:rPr>
              <a:t>2015.11.18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  <a:cs typeface="Arial" charset="0"/>
              </a:rPr>
              <a:t> - 2015.11.19 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Arial" charset="0"/>
              </a:rPr>
              <a:t>完成资料的编写、备料、贴纸板</a:t>
            </a:r>
            <a:endParaRPr lang="en-US" altLang="zh-CN" dirty="0" smtClean="0">
              <a:latin typeface="宋体" pitchFamily="2" charset="-122"/>
              <a:ea typeface="宋体" pitchFamily="2" charset="-122"/>
              <a:cs typeface="Arial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宋体" pitchFamily="2" charset="-122"/>
                <a:ea typeface="宋体" pitchFamily="2" charset="-122"/>
                <a:cs typeface="Arial" charset="0"/>
              </a:rPr>
              <a:t>(4) 2015.11.20 - 2015.11.24 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Arial" charset="0"/>
              </a:rPr>
              <a:t>发出去洗板</a:t>
            </a:r>
            <a:endParaRPr lang="en-US" altLang="zh-CN" dirty="0" smtClean="0">
              <a:latin typeface="宋体" pitchFamily="2" charset="-122"/>
              <a:ea typeface="宋体" pitchFamily="2" charset="-122"/>
              <a:cs typeface="Arial" charset="0"/>
            </a:endParaRPr>
          </a:p>
          <a:p>
            <a:pPr>
              <a:lnSpc>
                <a:spcPct val="130000"/>
              </a:lnSpc>
            </a:pPr>
            <a:r>
              <a:rPr lang="en-US" altLang="zh-CN" dirty="0" smtClean="0">
                <a:latin typeface="宋体" pitchFamily="2" charset="-122"/>
                <a:ea typeface="宋体" pitchFamily="2" charset="-122"/>
                <a:cs typeface="Arial" charset="0"/>
              </a:rPr>
              <a:t>(5) 2015.11.25 - 2015.12.07 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Arial" charset="0"/>
              </a:rPr>
              <a:t>发出去贴片</a:t>
            </a:r>
            <a:endParaRPr lang="en-US" altLang="zh-CN" dirty="0" smtClean="0">
              <a:latin typeface="宋体" pitchFamily="2" charset="-122"/>
              <a:ea typeface="宋体" pitchFamily="2" charset="-122"/>
              <a:cs typeface="Arial" charset="0"/>
            </a:endParaRPr>
          </a:p>
          <a:p>
            <a:pPr>
              <a:lnSpc>
                <a:spcPct val="130000"/>
              </a:lnSpc>
            </a:pPr>
            <a:endParaRPr lang="en-US" altLang="zh-CN" dirty="0" smtClean="0"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5225</TotalTime>
  <Words>267</Words>
  <Application>Microsoft Office PowerPoint</Application>
  <PresentationFormat>全屏显示(4:3)</PresentationFormat>
  <Paragraphs>62</Paragraphs>
  <Slides>7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</vt:lpstr>
      <vt:lpstr>                             方案设计 PPT   P15-090 Oscar-Plan_V1.0   （NXP BLE 模块）</vt:lpstr>
      <vt:lpstr>Agenda</vt:lpstr>
      <vt:lpstr>1. Version History</vt:lpstr>
      <vt:lpstr>幻灯片 4</vt:lpstr>
      <vt:lpstr>幻灯片 5</vt:lpstr>
      <vt:lpstr>幻灯片 6</vt:lpstr>
      <vt:lpstr>幻灯片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Yinkai Kong</dc:creator>
  <cp:lastModifiedBy>asus</cp:lastModifiedBy>
  <cp:revision>411</cp:revision>
  <dcterms:created xsi:type="dcterms:W3CDTF">2013-07-18T07:33:09Z</dcterms:created>
  <dcterms:modified xsi:type="dcterms:W3CDTF">2015-12-24T05:44:33Z</dcterms:modified>
</cp:coreProperties>
</file>